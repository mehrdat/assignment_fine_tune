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CN7050 – Intelligent Systems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Analysing Financial Sentiment through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 Transformers and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Reasoning-based Large Language Models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 ·  FinBERT  ·  GPT-OSS 20B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6  |  Gabriel Filipini  ·  Hemin Mathews Pullan  ·  Isabel Beristain  ·  Mehrdad Lashgari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East London  |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CN7050 – Group 6 | University of East London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87782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Preprocessing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078992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PhraseBank — 4,840 headlines, 3-class imbalanced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527048"/>
            <a:ext cx="41148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27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153619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 — BERT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73736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General-purpose transformer fine-tuned on financial sentiment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185416"/>
            <a:ext cx="41148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854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19456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 — FinBERT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395728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Domain-specific pre-trained model — baseline vs fine-tuned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843784"/>
            <a:ext cx="41148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437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285292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 — GPT-OSS 20B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054096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Reasoning-based zero-shot prompting + 15-prompt ablation study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502152"/>
            <a:ext cx="41148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502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351129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Analysis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712464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metrics + qualitative misclassification analysis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160520"/>
            <a:ext cx="41148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416966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Ethics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4370832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learned, limitations, future directions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PhraseBank — Kaggle: ankurzing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CN7050 – Group 6 | University of East London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192024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686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4,840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samples after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 removal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822960"/>
            <a:ext cx="192024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8686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59.5%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888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class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(majority)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822960"/>
            <a:ext cx="1920240" cy="9144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8686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28.2%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0916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class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49440" y="822960"/>
            <a:ext cx="1920240" cy="9144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8686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4944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class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(minority)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1920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Distribution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22402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325880" y="2276856"/>
            <a:ext cx="2176272" cy="2560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3547872" y="22402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59.5%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28620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25880" y="2898648"/>
            <a:ext cx="1031443" cy="256032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24" name="Text 22"/>
          <p:cNvSpPr/>
          <p:nvPr/>
        </p:nvSpPr>
        <p:spPr>
          <a:xfrm>
            <a:off x="2403043" y="28620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28.2%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348386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25880" y="3520440"/>
            <a:ext cx="457200" cy="25603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1828800" y="348386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777240"/>
            <a:ext cx="4114800" cy="40233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Pipeline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1170432"/>
            <a:ext cx="201168" cy="2011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117043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duplicates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0" y="13716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4,846 → 4,840 samples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1837944"/>
            <a:ext cx="201168" cy="2011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0" y="183794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Lowercase labels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20640" y="20391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string matching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46320" y="2505456"/>
            <a:ext cx="201168" cy="2011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7" name="Text 35"/>
          <p:cNvSpPr/>
          <p:nvPr/>
        </p:nvSpPr>
        <p:spPr>
          <a:xfrm>
            <a:off x="5120640" y="250545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Mojibake → [UNK]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20640" y="270662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Finnish chars preserved as token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3172968"/>
            <a:ext cx="201168" cy="2011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0" name="Text 38"/>
          <p:cNvSpPr/>
          <p:nvPr/>
        </p:nvSpPr>
        <p:spPr>
          <a:xfrm>
            <a:off x="5120640" y="31729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80/10/10 split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20640" y="33741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random_state=13 fixed across all notebooks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46320" y="3840480"/>
            <a:ext cx="201168" cy="2011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3" name="Text 41"/>
          <p:cNvSpPr/>
          <p:nvPr/>
        </p:nvSpPr>
        <p:spPr>
          <a:xfrm>
            <a:off x="5120640" y="38404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Data Block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20640" y="40416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80-sample test subset for all 3 models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 — BERT-base-uncased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vs. after fine-tuning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CN7050 – Group 6 | University of East London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160520" cy="32004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7724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Fine-Tuning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097280"/>
            <a:ext cx="4160520" cy="1280160"/>
          </a:xfrm>
          <a:prstGeom prst="rect">
            <a:avLst/>
          </a:prstGeom>
          <a:solidFill>
            <a:srgbClr val="FCE4D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777240"/>
            <a:ext cx="4160520" cy="320040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77724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Fine-Tuning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097280"/>
            <a:ext cx="4160520" cy="1280160"/>
          </a:xfrm>
          <a:prstGeom prst="rect">
            <a:avLst/>
          </a:prstGeom>
          <a:solidFill>
            <a:srgbClr val="E2EFD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612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116128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59.3%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15087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150876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0.248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18562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issue: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54480" y="185623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ONLY 'neutral'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11612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116128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15087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150876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18562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185623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+26.7 pp accuracy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2487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Progress (3 Epochs)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88920"/>
          <a:ext cx="54864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097280"/>
                <a:gridCol w="1097280"/>
                <a:gridCol w="1280160"/>
                <a:gridCol w="155448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Epoch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 Loss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 Loss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 Accuracy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 Macro-F1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0.3840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0.2746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0.4425 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274320" y="363931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Val loss rising at epoch 3 = mild overfitting signal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669280" y="24871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Per-Class Performance (Test Set — 484 samples)</a:t>
            </a:r>
            <a:endParaRPr lang="en-US" sz="10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2788920"/>
          <a:ext cx="32918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58952"/>
                <a:gridCol w="758952"/>
                <a:gridCol w="768096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Neutral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 — FinBERT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pre-training advantage + fine-tuning refinement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CN7050 – Group 6 | University of East London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8686800" cy="50292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Key finding: FinBERT before fine-tuning (89.3% accuracy) already beats fully fine-tuned BERT (86.0%)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192024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417320"/>
            <a:ext cx="192024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89.3%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" y="182422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(before &amp; after FT)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1371600"/>
            <a:ext cx="1920240" cy="8229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417320"/>
            <a:ext cx="192024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68880" y="182422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fine-tuning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371600"/>
            <a:ext cx="1920240" cy="82296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417320"/>
            <a:ext cx="192024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09160" y="182422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precision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FT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49440" y="1371600"/>
            <a:ext cx="1920240" cy="82296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417320"/>
            <a:ext cx="192024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49440" y="182422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F1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FT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23317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FinBERT Training Progress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33472"/>
          <a:ext cx="54864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097280"/>
                <a:gridCol w="1097280"/>
                <a:gridCol w="1280160"/>
                <a:gridCol w="155448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Epoch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 Loss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 Loss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 Accuracy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 Macro-F1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0.3550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0.3919 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274320" y="349300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FinBERT starts with train loss 0.21 vs BERT's 0.58 — evidence of domain pre-training advantage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760720" y="23317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Per-Class — Before vs After Fine-Tuning</a:t>
            </a:r>
            <a:endParaRPr lang="en-US" sz="10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633472"/>
          <a:ext cx="3200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51560"/>
                <a:gridCol w="105156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 FT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FT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 F1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Neutral F1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Positive F1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Macro-F1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274320" y="38221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improved precision (+0.10) but recall dropped slightly — model became more careful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 — GPT-OSS 20B: Prompt Ablation Study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strategies tested on 80 headlines — temperature=0.0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CN7050 – Group 6 | University of East London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Ablation Study?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07899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one variable at a time (the prompt wording) while keeping everything else fixed — same model, same 80 samples, same API settings — to isolate which prompt characteristic actually drives accuracy.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393192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830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Configuration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0848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554480" y="20848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gpt-oss:20b-cloud via Ollama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3317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554480" y="2331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/api/chat (system + user roles)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257860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554480" y="25786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 — fully deterministic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82549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54480" y="282549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JSON: {final_label, reasoning}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0" y="80467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Results (Top 8 of 15)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097280"/>
          <a:ext cx="45262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463040"/>
                <a:gridCol w="822960"/>
                <a:gridCol w="86868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Macro-F1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P1_ZeroShot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P2_Constrained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P6_CoT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P5_FewShot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P4_OneShot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P12_Nuance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P13_Risk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P11_Contrastive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274320" y="3246120"/>
            <a:ext cx="8595360" cy="548640"/>
          </a:xfrm>
          <a:prstGeom prst="rect">
            <a:avLst/>
          </a:prstGeom>
          <a:solidFill>
            <a:srgbClr val="FFF2CC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32735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Simplest prompt wins — adding reasoning steps, examples, or personas reduced accuracy by up to 22.5 pp. Complex prompts cause 'Prompt Bloat': the 20B model's attention diverts from financial analysis to instruction compliance.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274320" y="38587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Spread: 0.775 (best) → 0.550 (worst) = 22.5 pp gap across 15 prompts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 — GPT-OSS Final Evaluation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prompt (P1_ZeroShot) on 80-sample test subset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CN7050 – Group 6 | University of East London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192024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22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78.8%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1280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Accuracy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777240"/>
            <a:ext cx="192024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822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8880" y="1280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777240"/>
            <a:ext cx="1920240" cy="9144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822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09160" y="1280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F1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highest of any model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49440" y="777240"/>
            <a:ext cx="1920240" cy="9144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822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49440" y="1280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Recall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(perfect — 0 missed)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182880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Per-Class Performance (80 samples)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30552"/>
          <a:ext cx="46634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914400"/>
                <a:gridCol w="914400"/>
                <a:gridCol w="9144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F1-Score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Neutral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 avg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029200" y="1828800"/>
            <a:ext cx="3840480" cy="310896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2064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Example ✅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12064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"Return on capital employed rose by 4.8 percentage points to 19.6%."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120640" y="2834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GPT-OSS reasoning: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120640" y="30632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headline reports an increase in return on capital employed, indicating improved financial performance, which conveys a positive sentiment."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029200" y="3566160"/>
            <a:ext cx="3840480" cy="548640"/>
          </a:xfrm>
          <a:prstGeom prst="rect">
            <a:avLst/>
          </a:prstGeom>
          <a:solidFill>
            <a:srgbClr val="FFF2CC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74920" y="35935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GPT-OSS Macro-F1 (0.803) ≈ fine-tuned BERT (0.804)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7F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ZERO training data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27432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Weakness: positive class F1 = 0.64 — over-labels neutral as positive (action-oriented language)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Analysis — Quantitative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models on the same 80-sample test subset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CN7050 – Group 6 | University of East London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Performance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6410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371600"/>
                <a:gridCol w="914400"/>
                <a:gridCol w="914400"/>
                <a:gridCol w="841248"/>
                <a:gridCol w="85039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Macro-F1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 F1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 F1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 (before FT)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 (after FT)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3,872 samples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FinBERT (before FT)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FinBERT (after FT) 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3,872 samples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 (zero-shot)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2468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Best overall | Note: BERT/FinBERT tested on 484 samples for full test, 80 samples for head-to-head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74320" y="27889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Per-Class Accuracy on 80-Sample Subset</a:t>
            </a:r>
            <a:endParaRPr lang="en-US" sz="11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090672"/>
          <a:ext cx="86410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188720"/>
                <a:gridCol w="1188720"/>
                <a:gridCol w="18745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 (n)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FinBERT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 (13)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 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Neutral (49)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0.918 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FinBERT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Positive (18)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0.722 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 (barely)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274320" y="4069080"/>
            <a:ext cx="8595360" cy="50292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1480" y="409651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model wins on a different class. No single model dominates everywhere — supports a hybrid architecture.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Analysis — Qualitative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Misclassification patterns and example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CN7050 – Group 6 | University of East London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8686800" cy="25603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046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1 — Positive/Neutral Boundary (most common — all models fail)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09728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Headline: "Etteplan targets to employ at least 20 people in Hungary"  |  True: Positive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29844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BERT: neutral ❌   FinBERT: neutral ❌   GPT-OSS: positive ✅ (barely)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149961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No explicit revenue/profit figure — only a hiring target. Models see a factual statement, not a financial gain.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1783080"/>
            <a:ext cx="8686800" cy="2560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7830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2 — FinBERT correct, BERT wrong (domain vocabulary advantage)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0756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Headline: "Nokia also noted the average selling price of handsets declined during the period, though its mobile phone profit margin..."  |  True: Positive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23317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BERT: negative ❌   FinBERT: positive ✅   GPT-OSS: negative ❌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253288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BERT and GPT-OSS focus on 'declined' and ignore the positive profit margin qualifier. FinBERT understands the full financial context.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2816352"/>
            <a:ext cx="8686800" cy="25603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8163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3 — GPT-OSS correct, both fine-tuned models wrong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31089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Headline: "The planned facility, estimated to cost $814 million, would be the largest biodiesel plant in the world"  |  True: Positive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336499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BERT: neutral ❌   FinBERT: neutral ❌   GPT-OSS: positive ✅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" y="356616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GPT-OSS reasoning recognised 'largest in the world' as a strong positive financial signal. Fine-tuned models saw only a factual cost statement.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385876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models, negative headlines are easiest (explicit language: 'loss', 'fell', 'cut').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Positive/neutral boundary is hardest — indirect language requires contextual financial understanding.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vs. Reasoning-Based Prompting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CN7050 – Group 6 | University of East London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6410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333756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Fine-Tuning (BERT / FinBERT)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Reasoning Prompting (GPT-OSS)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 data needed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— 3,872 labelled examples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— zero labelled examples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Peak accuracy (80-sample)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85.0% (FinBERT)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78.8% (P1_ZeroShot)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Macro-F1 (80-sample)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0.824 (FinBERT) / 0.804 (BERT)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0.803 — nearly equal to BERT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at negative class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(F1: 0.87–0.89)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Outstanding (F1: 0.963, recall 1.00)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Explainability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— label + score only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written reasoning per prediction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 without retraining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— must retrain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— change the prompt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(local inference)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Slower (API, 20B model)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use case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High-volume pipelines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Audit-required or exploratory tasks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041648"/>
            <a:ext cx="8595360" cy="548640"/>
          </a:xfrm>
          <a:prstGeom prst="rect">
            <a:avLst/>
          </a:prstGeom>
          <a:solidFill>
            <a:srgbClr val="FFF2CC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0690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Hybrid architecture — FinBERT for bulk classification at scale, GPT-OSS invoked for low-confidence cases or where auditable explanations are required.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Reflection, Ethics &amp; Lessons Learned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CN7050 – Group 6 | University of East London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Automation Risk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 make systematic errors on the positive/neutral boundary. Connecting to an automated trading system without human oversight could cause erroneous trades and real market harm.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Dataset Bias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10312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 is primarily Finnish financial news (Nokia, Sponda, Etteplan). Models may not generalise to other markets, languages, or industries.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28346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Hallucination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310896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GPT-OSS sometimes produced confident but wrong reasoning. A model that sounds certain while being incorrect is more dangerous than one that expresses uncertainty.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38404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Overfitting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41148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loss rose at epoch 3 for both BERT and FinBERT. Early stopping and larger datasets would reduce this risk.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 &amp; 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CN7050 – Group 6 | University of East London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Key Lessons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347472" cy="34747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15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13385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pre-training &gt; more training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3716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FinBERT before fine-tuning (89.3%) beat BERT after fine-tuning (86.0%). Choosing the right base model matters more than optimising training.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347472" cy="34747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204825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 prompts win for LLMs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2860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constrained classification tasks, adding reasoning instructions reduced accuracy rather than improving it. Prompt Bloat is real on 20B models.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944368"/>
            <a:ext cx="347472" cy="34747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944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296265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 consistency is critical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2004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phantom 94% accuracy from inconsistent random seeds showed how easily incorrect results appear convincing. Cross-notebook validation is essential.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777240"/>
            <a:ext cx="4297680" cy="402336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822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1170432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FinBERT is the best model for high-accuracy production use — domain pre-training provides the strongest foundation.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63440" y="19202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GPT-OSS is competitive (Macro-F1 ≈ BERT) with zero training data, and uniquely provides auditable reasoning chains.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63440" y="267004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Perfect negative recall (1.00) makes GPT-OSS the safest choice for risk-sensitive financial applications.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63440" y="3419856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Future work: class-weighted loss functions for the negative minority class; FinBERT on broader financial news corpora; hybrid FinBERT + GPT-OSS production pipeline.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CN7050 — Group 6  |  University of East London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 Filipini  ·  Hemin Mathews Pullan  ·  Isabel Beristain  ·  Mehrdad Lashgari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CN7050 Financial Sentiment Analysis</dc:title>
  <dc:subject>PptxGenJS Presentation</dc:subject>
  <dc:creator>PptxGenJS</dc:creator>
  <cp:lastModifiedBy>PptxGenJS</cp:lastModifiedBy>
  <cp:revision>1</cp:revision>
  <dcterms:created xsi:type="dcterms:W3CDTF">2026-04-15T14:04:40Z</dcterms:created>
  <dcterms:modified xsi:type="dcterms:W3CDTF">2026-04-15T14:04:40Z</dcterms:modified>
</cp:coreProperties>
</file>