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351" r:id="rId2"/>
    <p:sldId id="353" r:id="rId3"/>
    <p:sldId id="260" r:id="rId4"/>
    <p:sldId id="358" r:id="rId5"/>
    <p:sldId id="355" r:id="rId6"/>
    <p:sldId id="262" r:id="rId7"/>
    <p:sldId id="263" r:id="rId8"/>
    <p:sldId id="356" r:id="rId9"/>
    <p:sldId id="265" r:id="rId10"/>
    <p:sldId id="357" r:id="rId11"/>
    <p:sldId id="266" r:id="rId12"/>
    <p:sldId id="359" r:id="rId13"/>
    <p:sldId id="360" r:id="rId14"/>
    <p:sldId id="361" r:id="rId15"/>
    <p:sldId id="269" r:id="rId16"/>
    <p:sldId id="268" r:id="rId17"/>
    <p:sldId id="363" r:id="rId18"/>
    <p:sldId id="364" r:id="rId19"/>
    <p:sldId id="271" r:id="rId20"/>
    <p:sldId id="272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2F5"/>
    <a:srgbClr val="D0E5EB"/>
    <a:srgbClr val="50B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62404-D3A5-9099-35C1-5C123CED06DF}" v="3" dt="2026-04-11T09:59:38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4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9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0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2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6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95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8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4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12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9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44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73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19437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320780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72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23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0BE57686-D5FA-4AEF-A1CE-FEA9BFB577A8}"/>
              </a:ext>
            </a:extLst>
          </p:cNvPr>
          <p:cNvGrpSpPr/>
          <p:nvPr/>
        </p:nvGrpSpPr>
        <p:grpSpPr>
          <a:xfrm>
            <a:off x="289747" y="984504"/>
            <a:ext cx="8746098" cy="4926202"/>
            <a:chOff x="-389601" y="-797902"/>
            <a:chExt cx="8597378" cy="120478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37876E-FD9D-43E2-83D0-FA7A0852D11D}"/>
                </a:ext>
              </a:extLst>
            </p:cNvPr>
            <p:cNvSpPr txBox="1"/>
            <p:nvPr/>
          </p:nvSpPr>
          <p:spPr>
            <a:xfrm>
              <a:off x="-389601" y="-797902"/>
              <a:ext cx="8597378" cy="41460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4000" b="1">
                  <a:solidFill>
                    <a:schemeClr val="bg1"/>
                  </a:solidFill>
                  <a:latin typeface="+mj-lt"/>
                  <a:ea typeface="Calibri Light"/>
                  <a:cs typeface="Calibri Light"/>
                </a:rPr>
                <a:t>CN7050 – Intelligent Systems</a:t>
              </a:r>
            </a:p>
            <a:p>
              <a:r>
                <a:rPr lang="en-US" altLang="ko-KR" sz="4000" b="1">
                  <a:solidFill>
                    <a:schemeClr val="bg1"/>
                  </a:solidFill>
                  <a:ea typeface="맑은 고딕"/>
                  <a:cs typeface="Calibri Light"/>
                </a:rPr>
                <a:t>  </a:t>
              </a:r>
              <a:r>
                <a:rPr lang="en-US" altLang="ko-KR" sz="2000" b="1">
                  <a:solidFill>
                    <a:schemeClr val="bg1"/>
                  </a:solidFill>
                  <a:ea typeface="맑은 고딕"/>
                  <a:cs typeface="Calibri Light"/>
                </a:rPr>
                <a:t>Analyzing Financial Sentiment through fine-tuned Transformers</a:t>
              </a:r>
            </a:p>
            <a:p>
              <a:r>
                <a:rPr lang="en-US" altLang="ko-KR" sz="2000" b="1">
                  <a:solidFill>
                    <a:schemeClr val="bg1"/>
                  </a:solidFill>
                  <a:ea typeface="맑은 고딕"/>
                  <a:cs typeface="Calibri Light"/>
                </a:rPr>
                <a:t>    and Reasoning based Large Language Models</a:t>
              </a:r>
              <a:endParaRPr lang="en-US" altLang="ko-KR" sz="4000" b="1">
                <a:solidFill>
                  <a:schemeClr val="bg1"/>
                </a:solidFill>
                <a:ea typeface="맑은 고딕"/>
                <a:cs typeface="Calibri Ligh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C785DA-D55E-4EA2-A70A-CE090ABADBEF}"/>
                </a:ext>
              </a:extLst>
            </p:cNvPr>
            <p:cNvSpPr txBox="1"/>
            <p:nvPr/>
          </p:nvSpPr>
          <p:spPr>
            <a:xfrm>
              <a:off x="2018432" y="-233024"/>
              <a:ext cx="4838589" cy="63990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맑은 고딕"/>
                  <a:cs typeface="Arial"/>
                </a:rPr>
                <a:t>GROUP 6</a:t>
              </a:r>
            </a:p>
            <a:p>
              <a:r>
                <a:rPr lang="ko-KR" altLang="en-US" sz="1867">
                  <a:solidFill>
                    <a:schemeClr val="bg1"/>
                  </a:solidFill>
                  <a:cs typeface="Arial" pitchFamily="34" charset="0"/>
                </a:rPr>
                <a:t>   </a:t>
              </a:r>
              <a:r>
                <a:rPr lang="en-IE" altLang="ko-KR" sz="1867">
                  <a:solidFill>
                    <a:schemeClr val="bg1"/>
                  </a:solidFill>
                  <a:cs typeface="Arial" pitchFamily="34" charset="0"/>
                </a:rPr>
                <a:t>Gabriel </a:t>
              </a:r>
              <a:r>
                <a:rPr lang="en-IE" altLang="ko-KR" sz="1867" err="1">
                  <a:solidFill>
                    <a:schemeClr val="bg1"/>
                  </a:solidFill>
                  <a:cs typeface="Arial" pitchFamily="34" charset="0"/>
                </a:rPr>
                <a:t>Filipini</a:t>
              </a:r>
              <a:endParaRPr lang="en-IE" altLang="ko-KR" sz="1867">
                <a:solidFill>
                  <a:schemeClr val="bg1"/>
                </a:solidFill>
                <a:cs typeface="Arial" pitchFamily="34" charset="0"/>
              </a:endParaRPr>
            </a:p>
            <a:p>
              <a:r>
                <a:rPr lang="en-IE" altLang="ko-KR" sz="1867">
                  <a:solidFill>
                    <a:schemeClr val="bg1"/>
                  </a:solidFill>
                  <a:cs typeface="Arial" pitchFamily="34" charset="0"/>
                </a:rPr>
                <a:t>   Hemin Mathews Pullan</a:t>
              </a:r>
            </a:p>
            <a:p>
              <a:r>
                <a:rPr lang="en-IE" altLang="ko-KR" sz="1867">
                  <a:solidFill>
                    <a:schemeClr val="bg1"/>
                  </a:solidFill>
                  <a:cs typeface="Arial" pitchFamily="34" charset="0"/>
                </a:rPr>
                <a:t>   Isabel Beristain</a:t>
              </a:r>
            </a:p>
            <a:p>
              <a:r>
                <a:rPr lang="en-IE" altLang="ko-KR" sz="1867">
                  <a:solidFill>
                    <a:schemeClr val="bg1"/>
                  </a:solidFill>
                  <a:cs typeface="Arial" pitchFamily="34" charset="0"/>
                </a:rPr>
                <a:t>   Mehrdad Lashgari</a:t>
              </a:r>
            </a:p>
            <a:p>
              <a:endParaRPr lang="en-IE" altLang="ko-KR" sz="1867">
                <a:solidFill>
                  <a:schemeClr val="bg1"/>
                </a:solidFill>
                <a:cs typeface="Arial" pitchFamily="34" charset="0"/>
              </a:endParaRPr>
            </a:p>
            <a:p>
              <a:r>
                <a:rPr lang="en-IE" altLang="ko-KR" sz="2400">
                  <a:solidFill>
                    <a:schemeClr val="bg1"/>
                  </a:solidFill>
                  <a:cs typeface="Arial" pitchFamily="34" charset="0"/>
                </a:rPr>
                <a:t>University of East London</a:t>
              </a:r>
            </a:p>
            <a:p>
              <a:r>
                <a:rPr lang="en-IE" altLang="ko-KR" sz="1867">
                  <a:solidFill>
                    <a:schemeClr val="bg1"/>
                  </a:solidFill>
                  <a:cs typeface="Arial" pitchFamily="34" charset="0"/>
                </a:rPr>
                <a:t>    </a:t>
              </a:r>
              <a:endParaRPr lang="ko-KR" altLang="en-US" sz="1867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200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0FFC-CF11-E3CA-3873-60751356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04802"/>
          </a:xfrm>
        </p:spPr>
        <p:txBody>
          <a:bodyPr>
            <a:normAutofit/>
          </a:bodyPr>
          <a:lstStyle/>
          <a:p>
            <a:r>
              <a:rPr lang="en-IE" sz="4400"/>
              <a:t>Introduction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1A869F-B944-A0D9-7B3D-6D95E963E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655" y="1403056"/>
            <a:ext cx="9804531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Importance of financial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 Light" panose="020F0302020204030204" pitchFamily="34" charset="0"/>
                <a:cs typeface="Calibri Light" panose="020F0302020204030204" pitchFamily="34" charset="0"/>
              </a:rPr>
              <a:t>sentiment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analysis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41782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Financial markets are strongly influenced by information from news articles, corporate reports, and economic announcements.</a:t>
            </a:r>
          </a:p>
          <a:p>
            <a:pPr marL="541782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Investors and analysts frequently rely on these sentiment signals to interpret market trends and support decision-making.</a:t>
            </a:r>
          </a:p>
          <a:p>
            <a:pPr marL="541782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rapid growth in news volume makes manual analysis increasingly difficult, requiring automated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Role of NLP in </a:t>
            </a:r>
            <a:r>
              <a:rPr lang="en-US" altLang="en-US" sz="1800" b="1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analysing</a:t>
            </a:r>
            <a:r>
              <a:rPr lang="en-US" altLang="en-US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financial news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NLP techniques are now widely used to automatically analyze textual data and extract meaningful insights.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Deep learning and transformer-based architectures, like BERT, have significantly improved the performance of these systems.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These models capture contextual relationships between words through bidirectional training to achieve strong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Objective: Compare BERT, </a:t>
            </a:r>
            <a:r>
              <a:rPr lang="en-US" altLang="en-US" sz="1800" b="1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FinBERT</a:t>
            </a:r>
            <a:r>
              <a:rPr lang="en-US" altLang="en-US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GPT-OSS reasoning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This study investigates three approaches: a fine-tuned BERT-base as a baseline and the domain-specific </a:t>
            </a:r>
            <a:r>
              <a:rPr lang="en-US" altLang="en-US" sz="1400" err="1">
                <a:solidFill>
                  <a:schemeClr val="tx1"/>
                </a:solidFill>
              </a:rPr>
              <a:t>FinBERT</a:t>
            </a:r>
            <a:r>
              <a:rPr lang="en-US" altLang="en-US" sz="1400">
                <a:solidFill>
                  <a:schemeClr val="tx1"/>
                </a:solidFill>
              </a:rPr>
              <a:t>.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A third approach uses a reasoning-based Large Language Model (GPT-OSS) to generate sentiment predictions.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The comparison aims to evaluate how different architectures contribute to sentiment analysis in financial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Investigate the impact of domain-specific models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General-purpose models often struggle with the specialized terminology and linguistic patterns found in financial texts.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The research evaluates whether domain-specific pre-training in models like </a:t>
            </a:r>
            <a:r>
              <a:rPr lang="en-US" altLang="en-US" sz="1400" err="1">
                <a:solidFill>
                  <a:schemeClr val="tx1"/>
                </a:solidFill>
              </a:rPr>
              <a:t>FinBERT</a:t>
            </a:r>
            <a:r>
              <a:rPr lang="en-US" altLang="en-US" sz="1400">
                <a:solidFill>
                  <a:schemeClr val="tx1"/>
                </a:solidFill>
              </a:rPr>
              <a:t> improves classification accuracy.</a:t>
            </a:r>
          </a:p>
          <a:p>
            <a:pPr marL="541782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400">
                <a:solidFill>
                  <a:schemeClr val="tx1"/>
                </a:solidFill>
              </a:rPr>
              <a:t>The study determines if </a:t>
            </a:r>
            <a:r>
              <a:rPr lang="en-US" altLang="en-US" sz="1400" err="1">
                <a:solidFill>
                  <a:schemeClr val="tx1"/>
                </a:solidFill>
              </a:rPr>
              <a:t>specialised</a:t>
            </a:r>
            <a:r>
              <a:rPr lang="en-US" altLang="en-US" sz="1400">
                <a:solidFill>
                  <a:schemeClr val="tx1"/>
                </a:solidFill>
              </a:rPr>
              <a:t> training outperforms generalist models when dealing with complex financial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1CDC18-D517-4A07-C1F3-9B9ADB51CA4D}"/>
              </a:ext>
            </a:extLst>
          </p:cNvPr>
          <p:cNvSpPr/>
          <p:nvPr/>
        </p:nvSpPr>
        <p:spPr>
          <a:xfrm>
            <a:off x="411382" y="1329352"/>
            <a:ext cx="10836722" cy="4618409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41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97723"/>
          </a:xfrm>
        </p:spPr>
        <p:txBody>
          <a:bodyPr>
            <a:normAutofit/>
          </a:bodyPr>
          <a:lstStyle/>
          <a:p>
            <a:r>
              <a:rPr sz="440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103985"/>
          </a:xfrm>
        </p:spPr>
        <p:txBody>
          <a:bodyPr>
            <a:normAutofit lnSpcReduction="10000"/>
          </a:bodyPr>
          <a:lstStyle/>
          <a:p>
            <a:r>
              <a:t>•</a:t>
            </a:r>
            <a:r>
              <a:rPr lang="en-IE"/>
              <a:t> 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</a:t>
            </a:r>
            <a:r>
              <a:rPr lang="en-GB" sz="1800" b="1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PhraseBank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(Kaggle: </a:t>
            </a:r>
            <a:r>
              <a:rPr lang="en-GB" sz="1800" b="1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ankurzing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):</a:t>
            </a:r>
            <a:r>
              <a:rPr lang="en-GB" sz="1800">
                <a:latin typeface="+mj-lt"/>
              </a:rPr>
              <a:t> </a:t>
            </a:r>
            <a:r>
              <a:rPr lang="en-GB" sz="1400">
                <a:solidFill>
                  <a:schemeClr val="tx1"/>
                </a:solidFill>
              </a:rPr>
              <a:t>a collection of financial news headlines</a:t>
            </a:r>
            <a:endParaRPr lang="en-IE" sz="1400">
              <a:solidFill>
                <a:schemeClr val="tx1"/>
              </a:solidFill>
            </a:endParaRPr>
          </a:p>
          <a:p>
            <a:r>
              <a:t>• </a:t>
            </a:r>
            <a:r>
              <a:rPr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Labels:</a:t>
            </a:r>
            <a:r>
              <a:t> </a:t>
            </a:r>
            <a:r>
              <a:rPr lang="en-IE" sz="1400">
                <a:solidFill>
                  <a:schemeClr val="tx1"/>
                </a:solidFill>
              </a:rPr>
              <a:t>each headline is labelled as </a:t>
            </a:r>
            <a:r>
              <a:rPr sz="1400">
                <a:solidFill>
                  <a:schemeClr val="tx1"/>
                </a:solidFill>
              </a:rPr>
              <a:t>Positive, Neutral, Negative</a:t>
            </a:r>
            <a:endParaRPr lang="en-IE"/>
          </a:p>
          <a:p>
            <a:r>
              <a:rPr lang="en-GB"/>
              <a:t>• 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Number of samples:</a:t>
            </a:r>
            <a:r>
              <a:rPr lang="en-GB"/>
              <a:t> </a:t>
            </a:r>
            <a:r>
              <a:rPr lang="en-GB" sz="1400">
                <a:solidFill>
                  <a:schemeClr val="tx1"/>
                </a:solidFill>
              </a:rPr>
              <a:t>4,846 rows before cleaning.</a:t>
            </a:r>
          </a:p>
          <a:p>
            <a:r>
              <a:t>• </a:t>
            </a:r>
            <a:r>
              <a:rPr lang="en-IE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distribution</a:t>
            </a:r>
            <a:r>
              <a:rPr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t> </a:t>
            </a:r>
            <a:r>
              <a:rPr lang="en-IE" sz="1400">
                <a:solidFill>
                  <a:schemeClr val="tx1"/>
                </a:solidFill>
              </a:rPr>
              <a:t>59.3% Neutral, 28.2% Positive, 12.5% Negative. Clear imbalance</a:t>
            </a:r>
            <a:r>
              <a:rPr lang="en-GB" sz="1400">
                <a:solidFill>
                  <a:schemeClr val="tx1"/>
                </a:solidFill>
              </a:rPr>
              <a:t>, this is an important fact for interpreting later 	model performance, particularly on the minority negative class.</a:t>
            </a:r>
            <a:endParaRPr sz="1400">
              <a:solidFill>
                <a:schemeClr val="tx1"/>
              </a:solidFill>
            </a:endParaRPr>
          </a:p>
          <a:p>
            <a:r>
              <a:t>• </a:t>
            </a:r>
            <a:r>
              <a:rPr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financial headline</a:t>
            </a:r>
            <a:endParaRPr lang="en-IE" sz="1800" b="1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E" sz="1900" b="1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E" sz="1900" b="1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E"/>
              <a:t>    </a:t>
            </a:r>
            <a:endParaRPr lang="en-GB"/>
          </a:p>
          <a:p>
            <a:r>
              <a:rPr lang="en-GB"/>
              <a:t>    </a:t>
            </a: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E222F8-9BBE-02CB-A20F-B05E0CD9F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798581"/>
              </p:ext>
            </p:extLst>
          </p:nvPr>
        </p:nvGraphicFramePr>
        <p:xfrm>
          <a:off x="1235584" y="4495261"/>
          <a:ext cx="8128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768">
                  <a:extLst>
                    <a:ext uri="{9D8B030D-6E8A-4147-A177-3AD203B41FA5}">
                      <a16:colId xmlns:a16="http://schemas.microsoft.com/office/drawing/2014/main" val="2193543858"/>
                    </a:ext>
                  </a:extLst>
                </a:gridCol>
                <a:gridCol w="6512232">
                  <a:extLst>
                    <a:ext uri="{9D8B030D-6E8A-4147-A177-3AD203B41FA5}">
                      <a16:colId xmlns:a16="http://schemas.microsoft.com/office/drawing/2014/main" val="1952461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/>
                        <a:t>Positive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/>
                        <a:t>The OMX Helsinki 25 index was up 0.92 pct at 2,518.67 and the Helsinki CAP portfolio index was 0.91 pct higher at 4,711.19.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993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F6B6B5-84D5-164C-6A6C-B69FA49A9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684983"/>
              </p:ext>
            </p:extLst>
          </p:nvPr>
        </p:nvGraphicFramePr>
        <p:xfrm>
          <a:off x="1235584" y="5006538"/>
          <a:ext cx="8128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771">
                  <a:extLst>
                    <a:ext uri="{9D8B030D-6E8A-4147-A177-3AD203B41FA5}">
                      <a16:colId xmlns:a16="http://schemas.microsoft.com/office/drawing/2014/main" val="495879455"/>
                    </a:ext>
                  </a:extLst>
                </a:gridCol>
                <a:gridCol w="6512229">
                  <a:extLst>
                    <a:ext uri="{9D8B030D-6E8A-4147-A177-3AD203B41FA5}">
                      <a16:colId xmlns:a16="http://schemas.microsoft.com/office/drawing/2014/main" val="290671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neutral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 maximum of 666,104 new shares can further be subscribed for by exercising B options under the 2004 stock option plan.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332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51B6DC-2804-FDFF-58B0-EEE09E903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613359"/>
              </p:ext>
            </p:extLst>
          </p:nvPr>
        </p:nvGraphicFramePr>
        <p:xfrm>
          <a:off x="1235583" y="551781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4">
                  <a:extLst>
                    <a:ext uri="{9D8B030D-6E8A-4147-A177-3AD203B41FA5}">
                      <a16:colId xmlns:a16="http://schemas.microsoft.com/office/drawing/2014/main" val="1404967636"/>
                    </a:ext>
                  </a:extLst>
                </a:gridCol>
                <a:gridCol w="6502396">
                  <a:extLst>
                    <a:ext uri="{9D8B030D-6E8A-4147-A177-3AD203B41FA5}">
                      <a16:colId xmlns:a16="http://schemas.microsoft.com/office/drawing/2014/main" val="879179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/>
                        <a:t>negative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Peer Peugeot fell 0.81 pct as its sales rose only 6.3 pct from the same period last year.</a:t>
                      </a:r>
                      <a:endParaRPr lang="en-IE" sz="140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59401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330B83-0272-42EC-80DE-32A2B5CFBF67}"/>
              </a:ext>
            </a:extLst>
          </p:cNvPr>
          <p:cNvSpPr/>
          <p:nvPr/>
        </p:nvSpPr>
        <p:spPr>
          <a:xfrm>
            <a:off x="431047" y="1452122"/>
            <a:ext cx="10836722" cy="478153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C9FF-D182-7630-D9B2-EADC96A4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48B6-4C4C-0776-0290-25C0F45F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/>
              <a:t>Evaluation Metrics &amp; Data integrity</a:t>
            </a:r>
            <a:endParaRPr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A872D-8723-D410-1A3F-661D7D30B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1" y="1809135"/>
            <a:ext cx="10753725" cy="436552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E" sz="1800">
                <a:solidFill>
                  <a:schemeClr val="tx1"/>
                </a:solidFill>
              </a:rPr>
              <a:t>The following evaluation metrics were used throughout the project:</a:t>
            </a:r>
            <a:r>
              <a:rPr lang="en-IE" sz="140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t>• 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Accuracy</a:t>
            </a:r>
            <a:r>
              <a:rPr lang="en-GB" sz="1800">
                <a:solidFill>
                  <a:schemeClr val="tx1"/>
                </a:solidFill>
              </a:rPr>
              <a:t>.</a:t>
            </a:r>
            <a:r>
              <a:rPr lang="en-GB" sz="150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>
                <a:solidFill>
                  <a:schemeClr val="tx1"/>
                </a:solidFill>
              </a:rPr>
              <a:t>The proportion of correctly classified headlines. Because the dataset is </a:t>
            </a:r>
            <a:r>
              <a:rPr lang="en-GB" sz="1400" b="1">
                <a:solidFill>
                  <a:schemeClr val="tx1"/>
                </a:solidFill>
              </a:rPr>
              <a:t>imbalanced</a:t>
            </a:r>
            <a:r>
              <a:rPr lang="en-GB" sz="1400">
                <a:solidFill>
                  <a:schemeClr val="tx1"/>
                </a:solidFill>
              </a:rPr>
              <a:t> (neutral = 59.3%, positive = 28.2%, negative = 12.5%), accuracy alone can be misleading - a model that predicts 'neutral' for every sample would still achieve 59.3% accuracy.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E" sz="2000"/>
              <a:t>• 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Macro-F1 Score.</a:t>
            </a:r>
            <a:r>
              <a:rPr lang="en-GB" sz="180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>
                <a:solidFill>
                  <a:schemeClr val="tx1"/>
                </a:solidFill>
              </a:rPr>
              <a:t>The unweighted average of the F1 scores across all three classes. This</a:t>
            </a:r>
            <a:r>
              <a:rPr lang="en-GB" sz="1400" b="1">
                <a:solidFill>
                  <a:schemeClr val="tx1"/>
                </a:solidFill>
              </a:rPr>
              <a:t> treats each class equally</a:t>
            </a:r>
            <a:r>
              <a:rPr lang="en-GB" sz="1400">
                <a:solidFill>
                  <a:schemeClr val="tx1"/>
                </a:solidFill>
              </a:rPr>
              <a:t> regardless of size, making it the primary metric for comparing performance on imbalanced data. It serves as the primary benchmark for model comparison in this study.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E" sz="2000"/>
              <a:t>• </a:t>
            </a:r>
            <a:r>
              <a:rPr lang="en-GB" sz="1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Confusion Matrix.</a:t>
            </a:r>
            <a:r>
              <a:rPr lang="en-GB" sz="180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>
                <a:solidFill>
                  <a:schemeClr val="tx1"/>
                </a:solidFill>
              </a:rPr>
              <a:t>A visual matrix showing the count of true vs. predicted labels for all combinations of classes, making misclassification patterns easy to interpret.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/>
              <a:t> </a:t>
            </a:r>
            <a:r>
              <a:rPr lang="en-IE" sz="2000" b="1"/>
              <a:t>• </a:t>
            </a:r>
            <a:r>
              <a:rPr lang="en-GB" sz="2000" b="1"/>
              <a:t>Data Integrity.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/>
              <a:t>Data from all three models (BERT, FinBERT, and GPT-OSS) was merged into a unified CSV to ensure a consistent framework for final qualitative analysis.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/>
              <a:t> </a:t>
            </a:r>
            <a:endParaRPr sz="1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DB56F7-E3AE-B10E-0696-CE02B2EABE66}"/>
              </a:ext>
            </a:extLst>
          </p:cNvPr>
          <p:cNvSpPr/>
          <p:nvPr/>
        </p:nvSpPr>
        <p:spPr>
          <a:xfrm>
            <a:off x="627687" y="1658594"/>
            <a:ext cx="10836722" cy="436552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32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1EC1-5313-D37A-1A00-E0683CD8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82227"/>
          </a:xfrm>
        </p:spPr>
        <p:txBody>
          <a:bodyPr>
            <a:normAutofit/>
          </a:bodyPr>
          <a:lstStyle/>
          <a:p>
            <a:r>
              <a:rPr lang="en-IE" sz="4400"/>
              <a:t>Data Preparation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DD4A64-5727-1EF1-6924-2ABE93DACD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319424"/>
              </p:ext>
            </p:extLst>
          </p:nvPr>
        </p:nvGraphicFramePr>
        <p:xfrm>
          <a:off x="676275" y="1313271"/>
          <a:ext cx="1075372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673">
                  <a:extLst>
                    <a:ext uri="{9D8B030D-6E8A-4147-A177-3AD203B41FA5}">
                      <a16:colId xmlns:a16="http://schemas.microsoft.com/office/drawing/2014/main" val="2194652379"/>
                    </a:ext>
                  </a:extLst>
                </a:gridCol>
                <a:gridCol w="7910051">
                  <a:extLst>
                    <a:ext uri="{9D8B030D-6E8A-4147-A177-3AD203B41FA5}">
                      <a16:colId xmlns:a16="http://schemas.microsoft.com/office/drawing/2014/main" val="2030526251"/>
                    </a:ext>
                  </a:extLst>
                </a:gridCol>
              </a:tblGrid>
              <a:tr h="191064">
                <a:tc>
                  <a:txBody>
                    <a:bodyPr/>
                    <a:lstStyle/>
                    <a:p>
                      <a:endParaRPr lang="en-IE" sz="1800" b="1" kern="120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42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Column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Manually assigned 'sentiment' and 'text' headers to raw CSV</a:t>
                      </a:r>
                      <a:endParaRPr lang="en-IE" sz="1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Duplicate Removal</a:t>
                      </a:r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Dataset cleaned from 4,846 to 4,840 unique samples.</a:t>
                      </a:r>
                      <a:endParaRPr lang="en-IE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653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Null Value Analysis</a:t>
                      </a:r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Both variables were found to be fully populated with no missing entries.</a:t>
                      </a:r>
                      <a:endParaRPr lang="en-IE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26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Label Normalization</a:t>
                      </a:r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All sentiment labels were converted to lowercase to ensure consistent string matching during evaluation.</a:t>
                      </a:r>
                      <a:endParaRPr lang="en-IE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84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Mojibake character handling</a:t>
                      </a:r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/>
                        <a:t>Replaced non-ASCII characters with </a:t>
                      </a:r>
                      <a:r>
                        <a:rPr lang="en-GB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[UNK]</a:t>
                      </a:r>
                      <a:r>
                        <a:rPr lang="en-GB" sz="1400"/>
                        <a:t> token to preserve sentence structure</a:t>
                      </a:r>
                      <a:endParaRPr lang="en-IE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7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Tokenization</a:t>
                      </a:r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/>
                        <a:t>BERT-base-uncased tokenizer (max length: 128 tokens) with padding/truncation</a:t>
                      </a:r>
                      <a:endParaRPr lang="en-GB" sz="1400" b="1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178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b="1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Train / Validation / Test split</a:t>
                      </a:r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To ensure total consistency and prevent data leakage, a 'Golden Data Block' protocol was implemented using stratified sampling and fixed seeds to guarantee identical test samples across all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34242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4A10928-B99A-A585-ED85-4EF6B79AA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303" y="4550735"/>
            <a:ext cx="7201905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0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96648"/>
          </a:xfrm>
        </p:spPr>
        <p:txBody>
          <a:bodyPr>
            <a:noAutofit/>
          </a:bodyPr>
          <a:lstStyle/>
          <a:p>
            <a:r>
              <a:rPr lang="en-IE" sz="3200"/>
              <a:t>Architecture &amp; training:  </a:t>
            </a:r>
            <a:r>
              <a:rPr sz="3200"/>
              <a:t>Model A</a:t>
            </a:r>
            <a:r>
              <a:rPr lang="en-IE" sz="3200"/>
              <a:t> -</a:t>
            </a:r>
            <a:r>
              <a:rPr sz="3200"/>
              <a:t> BERT-base</a:t>
            </a:r>
            <a:r>
              <a:rPr lang="en-IE" sz="3200"/>
              <a:t> &amp; Model B - FinBERT</a:t>
            </a:r>
            <a:endParaRPr sz="3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1E8673-C513-D80E-A433-A57498805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21077"/>
              </p:ext>
            </p:extLst>
          </p:nvPr>
        </p:nvGraphicFramePr>
        <p:xfrm>
          <a:off x="199790" y="1465007"/>
          <a:ext cx="117267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742">
                  <a:extLst>
                    <a:ext uri="{9D8B030D-6E8A-4147-A177-3AD203B41FA5}">
                      <a16:colId xmlns:a16="http://schemas.microsoft.com/office/drawing/2014/main" val="4034938986"/>
                    </a:ext>
                  </a:extLst>
                </a:gridCol>
                <a:gridCol w="6211522">
                  <a:extLst>
                    <a:ext uri="{9D8B030D-6E8A-4147-A177-3AD203B41FA5}">
                      <a16:colId xmlns:a16="http://schemas.microsoft.com/office/drawing/2014/main" val="1419922231"/>
                    </a:ext>
                  </a:extLst>
                </a:gridCol>
                <a:gridCol w="2752475">
                  <a:extLst>
                    <a:ext uri="{9D8B030D-6E8A-4147-A177-3AD203B41FA5}">
                      <a16:colId xmlns:a16="http://schemas.microsoft.com/office/drawing/2014/main" val="341966175"/>
                    </a:ext>
                  </a:extLst>
                </a:gridCol>
              </a:tblGrid>
              <a:tr h="322389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Model A - BERT - base-uncased</a:t>
                      </a:r>
                    </a:p>
                  </a:txBody>
                  <a:tcPr>
                    <a:solidFill>
                      <a:srgbClr val="50B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Model B - FinBERT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219073"/>
                  </a:ext>
                </a:extLst>
              </a:tr>
              <a:tr h="322389">
                <a:tc>
                  <a:txBody>
                    <a:bodyPr/>
                    <a:lstStyle/>
                    <a:p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Encoder-only Transformer (110M parameters)</a:t>
                      </a:r>
                    </a:p>
                  </a:txBody>
                  <a:tcPr>
                    <a:solidFill>
                      <a:srgbClr val="D0E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95093"/>
                  </a:ext>
                </a:extLst>
              </a:tr>
              <a:tr h="322389">
                <a:tc>
                  <a:txBody>
                    <a:bodyPr/>
                    <a:lstStyle/>
                    <a:p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Pre-training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General English (Wikipedia, Books)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Financial (SEC filings, news, reports)</a:t>
                      </a:r>
                      <a:endParaRPr lang="en-IE" sz="1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019702"/>
                  </a:ext>
                </a:extLst>
              </a:tr>
              <a:tr h="322389">
                <a:tc>
                  <a:txBody>
                    <a:bodyPr/>
                    <a:lstStyle/>
                    <a:p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Architecture modifications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 3-class linear layer for sentiment analysis</a:t>
                      </a:r>
                      <a:endParaRPr lang="en-IE" sz="1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490509"/>
                  </a:ext>
                </a:extLst>
              </a:tr>
              <a:tr h="247772">
                <a:tc>
                  <a:txBody>
                    <a:bodyPr/>
                    <a:lstStyle/>
                    <a:p>
                      <a:r>
                        <a:rPr lang="en-IE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Training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Full fine-tuning (all layers updated) on financial text.</a:t>
                      </a:r>
                      <a:endParaRPr lang="en-IE" sz="1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14708"/>
                  </a:ext>
                </a:extLst>
              </a:tr>
              <a:tr h="362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Persistence</a:t>
                      </a:r>
                      <a:endParaRPr lang="en-IE" sz="1800" b="1" kern="120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checkpoint saved via </a:t>
                      </a:r>
                      <a:r>
                        <a:rPr lang="en-GB" sz="1400" b="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load_best_model_at_end</a:t>
                      </a:r>
                      <a:r>
                        <a:rPr lang="en-GB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based on lowest validation loss.</a:t>
                      </a:r>
                      <a:endParaRPr lang="en-IE" sz="1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498457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C7B2331C-1814-FD15-2029-E6EFAE702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667" y="3657593"/>
            <a:ext cx="6154009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1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BERT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6E9652-9644-7FF7-C95E-15E3DCA6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73" y="3842310"/>
            <a:ext cx="8440327" cy="235300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F47A43-63BF-351D-1C3B-A6C8D82C8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1373" y="1769971"/>
            <a:ext cx="840222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4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1BD47-6A3C-5C0E-142B-9F0331C6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2405-E0E2-6D8C-8268-04370D2B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BERT Results</a:t>
            </a:r>
            <a:r>
              <a:rPr lang="en-IE" sz="4400"/>
              <a:t> (continuation)</a:t>
            </a:r>
            <a:endParaRPr sz="44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F7E537-3C6B-73A1-6C23-7DD9544A6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1658" y="2123034"/>
            <a:ext cx="758295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FinBERT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A4CD04-A3A0-C068-2782-035CB5FDF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2" y="1759647"/>
            <a:ext cx="8787828" cy="47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1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0FD5-67CC-CE89-2B3E-9C8F8FBD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D9C6-1963-05E4-5643-5FC6158B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/>
              <a:t>FinBERT</a:t>
            </a:r>
            <a:r>
              <a:rPr sz="4400"/>
              <a:t> Results</a:t>
            </a:r>
            <a:r>
              <a:rPr lang="en-IE" sz="4400"/>
              <a:t> (Continuation)</a:t>
            </a:r>
            <a:endParaRPr sz="440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B0FC822-9CCA-5D9D-8CF3-3DDB0FFD1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711" y="2156376"/>
            <a:ext cx="754485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6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Model C – GPT-OSS</a:t>
            </a:r>
            <a:r>
              <a:rPr lang="en-IE" sz="4400"/>
              <a:t> 20B. Architecture &amp; Setup</a:t>
            </a:r>
            <a:endParaRPr sz="4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075B5-8713-C1FB-98BA-D1C01598D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754784"/>
            <a:ext cx="7678882" cy="477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1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CB006-F74D-D5E4-299B-B1A292A6B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BBD4-ECA2-BA92-1523-3EC31A22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/>
              <a:t>Prompt Engineering: 15-Prompt Ablation Study</a:t>
            </a:r>
            <a:endParaRPr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CF79-E323-440F-ADDE-5CB6CD68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1"/>
              <a:t>Ablation Study</a:t>
            </a:r>
          </a:p>
          <a:p>
            <a:r>
              <a:rPr lang="en-GB" sz="1400"/>
              <a:t>A systematic method to isolate which prompt characteristics (examples, personas, reasoning) actually drive accuracy by changing one variable at a time while keeping the model and dataset fixed.</a:t>
            </a:r>
          </a:p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84F63-9305-B613-3FED-3F463EE1B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62" y="3223147"/>
            <a:ext cx="875469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7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5E06-19BC-7393-0760-BB0CE91C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335B-342B-B660-43C8-9ECEF2FF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221112"/>
          </a:xfrm>
        </p:spPr>
        <p:txBody>
          <a:bodyPr>
            <a:normAutofit/>
          </a:bodyPr>
          <a:lstStyle/>
          <a:p>
            <a:r>
              <a:rPr lang="en-IE" sz="4400"/>
              <a:t>Model C – Performance &amp; Optimisation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369F2F9-604F-CA79-6FB4-5EA0958FF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842" y="1439993"/>
            <a:ext cx="7772400" cy="50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22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2547-A771-61AF-84EE-E70B599E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359B-0845-F17E-ED20-8B46325F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/>
              <a:t>Model C – </a:t>
            </a:r>
            <a:r>
              <a:rPr lang="en-IE" sz="4400"/>
              <a:t>Qualitative Analysis – Reasoning Quality</a:t>
            </a:r>
            <a:endParaRPr sz="4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936362-56C3-B744-C38B-C5529937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2115121"/>
            <a:ext cx="11984122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52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/>
              <a:t>Comparative Analysis</a:t>
            </a:r>
            <a:endParaRPr sz="44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026665-2F64-EBA2-12BD-86B4A00DB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12" y="1598558"/>
            <a:ext cx="8811855" cy="33342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E1FE0C-F45E-4303-94A4-40F6ED19AA82}"/>
              </a:ext>
            </a:extLst>
          </p:cNvPr>
          <p:cNvSpPr txBox="1"/>
          <p:nvPr/>
        </p:nvSpPr>
        <p:spPr>
          <a:xfrm>
            <a:off x="657224" y="5016686"/>
            <a:ext cx="10325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/>
              <a:t>Bar chart right comparing overall accuracy and macro-F1 for BERT, FinBERT, and GPT-OSS. FinBERT leads on both metrics; GPT-OSS macro-F1 is nearly equal to BERT despite no training. Bar chart left, showing per-class F1 for negative, neutral, and positive across all three models. GPT-OSS has the highest negative F1 by a large margin; all three models struggle most with the positive class.</a:t>
            </a:r>
            <a:endParaRPr lang="en-IE" sz="1400"/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070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022"/>
          </a:xfrm>
        </p:spPr>
        <p:txBody>
          <a:bodyPr>
            <a:normAutofit/>
          </a:bodyPr>
          <a:lstStyle/>
          <a:p>
            <a:r>
              <a:rPr sz="4400"/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215736"/>
            <a:ext cx="10753725" cy="5403273"/>
          </a:xfrm>
        </p:spPr>
        <p:txBody>
          <a:bodyPr>
            <a:normAutofit/>
          </a:bodyPr>
          <a:lstStyle/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r>
              <a:rPr lang="en-IE" sz="1800" b="1">
                <a:latin typeface="+mj-lt"/>
              </a:rPr>
              <a:t>Domain Pre-training &gt; Task Fine-tuning:</a:t>
            </a:r>
            <a:r>
              <a:rPr lang="en-IE"/>
              <a:t> </a:t>
            </a:r>
            <a:r>
              <a:rPr lang="en-GB" sz="1400" err="1"/>
              <a:t>FinBERT’s</a:t>
            </a:r>
            <a:r>
              <a:rPr lang="en-GB" sz="1400"/>
              <a:t> prior to fine-tunning performance (89.3%) already beat a fully fine-tuned BERT. Specialized vocabulary (e.g., </a:t>
            </a:r>
            <a:r>
              <a:rPr lang="en-GB" sz="1400" i="1"/>
              <a:t>EBIT, write-down</a:t>
            </a:r>
            <a:r>
              <a:rPr lang="en-GB" sz="1400"/>
              <a:t>) is better handled via pre-training than small-scale fine-tuning.</a:t>
            </a:r>
          </a:p>
          <a:p>
            <a:r>
              <a:rPr lang="en-IE" sz="1800" b="1">
                <a:latin typeface="+mj-lt"/>
              </a:rPr>
              <a:t>The Positive Class Problem:</a:t>
            </a:r>
            <a:r>
              <a:rPr lang="en-IE" sz="1400"/>
              <a:t>  </a:t>
            </a:r>
            <a:r>
              <a:rPr lang="en-GB" sz="1400"/>
              <a:t>All models struggled with the "Positive" label. (F1 Positive always the lowest). Positive signals in finance are often indirect or forward-looking (e.g., hiring plans), which are harder to distinguish from "Neutral" facts.</a:t>
            </a:r>
          </a:p>
          <a:p>
            <a:r>
              <a:rPr lang="en-IE" sz="1800" b="1">
                <a:latin typeface="+mj-lt"/>
              </a:rPr>
              <a:t>Prompt Engineering vs. Bloat:</a:t>
            </a:r>
            <a:r>
              <a:rPr lang="en-IE" sz="1800">
                <a:latin typeface="+mj-lt"/>
              </a:rPr>
              <a:t> </a:t>
            </a:r>
            <a:r>
              <a:rPr lang="en-GB" sz="1400"/>
              <a:t>Simple strategies (</a:t>
            </a:r>
            <a:r>
              <a:rPr lang="en-GB" sz="1400" b="1"/>
              <a:t>P1_ZeroShot</a:t>
            </a:r>
            <a:r>
              <a:rPr lang="en-GB" sz="1400"/>
              <a:t>) outperformed complex reasoning (Chain-of-Thought). Adding too much nuance caused the model to "talk itself" into the wrong answer. </a:t>
            </a:r>
          </a:p>
          <a:p>
            <a:endParaRPr lang="en-I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076DC9-E834-ED43-9B82-2EB506363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16" y="1372677"/>
            <a:ext cx="11479227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7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338B-6962-31FA-EE7D-415AAD24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1A5C-D020-A758-54A5-12C4742C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90276"/>
          </a:xfrm>
        </p:spPr>
        <p:txBody>
          <a:bodyPr>
            <a:normAutofit/>
          </a:bodyPr>
          <a:lstStyle/>
          <a:p>
            <a:r>
              <a:rPr lang="en-IE" sz="4400"/>
              <a:t>Fine-Tuning vs Reasoning</a:t>
            </a:r>
            <a:endParaRPr sz="44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5F39C-0AB7-D53D-78AA-9ECE88A2F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573" y="2011363"/>
            <a:ext cx="9627128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26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806EC-1928-CE66-3780-8F529665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A1CC-1366-E53E-80CE-1FF01370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67151"/>
          </a:xfrm>
        </p:spPr>
        <p:txBody>
          <a:bodyPr>
            <a:normAutofit/>
          </a:bodyPr>
          <a:lstStyle/>
          <a:p>
            <a:r>
              <a:rPr lang="en-IE" sz="4400"/>
              <a:t>Reflection &amp; Ethical Considerations</a:t>
            </a:r>
            <a:endParaRPr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99B85-DA99-48DB-B26A-B1D06C54B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1" y="1809135"/>
            <a:ext cx="10753725" cy="4365523"/>
          </a:xfrm>
        </p:spPr>
        <p:txBody>
          <a:bodyPr>
            <a:normAutofit/>
          </a:bodyPr>
          <a:lstStyle/>
          <a:p>
            <a:r>
              <a:rPr lang="en-GB" sz="1800" b="1"/>
              <a:t>Critical Considerations for Real-World Deployment</a:t>
            </a:r>
            <a:endParaRPr lang="en-GB" sz="1800"/>
          </a:p>
          <a:p>
            <a:r>
              <a:rPr lang="en-GB" sz="1800" b="1"/>
              <a:t>1. Automation Risk (Ethical Problem)</a:t>
            </a:r>
            <a:endParaRPr lang="en-GB" sz="1800"/>
          </a:p>
          <a:p>
            <a:pPr lvl="1"/>
            <a:r>
              <a:rPr lang="en-GB" sz="1400"/>
              <a:t>Deploying any of these models for automated trading without human oversight is risky. All models make systematic errors on the positive/neutral boundary. A false negative signal could trigger erroneous stock sales, potentially causing significant market harm.</a:t>
            </a:r>
          </a:p>
          <a:p>
            <a:r>
              <a:rPr lang="en-GB" sz="1800" b="1"/>
              <a:t>2. Dataset Bias (Generalization)</a:t>
            </a:r>
            <a:endParaRPr lang="en-GB" sz="1800"/>
          </a:p>
          <a:p>
            <a:pPr lvl="1"/>
            <a:r>
              <a:rPr lang="en-GB" sz="1400"/>
              <a:t>The model is trained primarily on </a:t>
            </a:r>
            <a:r>
              <a:rPr lang="en-GB" sz="1400" b="1"/>
              <a:t>Finnish financial news</a:t>
            </a:r>
            <a:r>
              <a:rPr lang="en-GB" sz="1400"/>
              <a:t> (e.g., Nokia, </a:t>
            </a:r>
            <a:r>
              <a:rPr lang="en-GB" sz="1400" err="1"/>
              <a:t>Sponda</a:t>
            </a:r>
            <a:r>
              <a:rPr lang="en-GB" sz="1400"/>
              <a:t>). This data may not generalize to other markets or languages. While </a:t>
            </a:r>
            <a:r>
              <a:rPr lang="en-GB" sz="1400" b="1"/>
              <a:t>GPT-OSS</a:t>
            </a:r>
            <a:r>
              <a:rPr lang="en-GB" sz="1400"/>
              <a:t> has broader pre-training and is less affected, it lacks specific knowledge of Finnish corporate reporting conventions</a:t>
            </a:r>
            <a:r>
              <a:rPr lang="en-GB" sz="1500"/>
              <a:t>.</a:t>
            </a:r>
          </a:p>
          <a:p>
            <a:r>
              <a:rPr lang="en-GB" sz="1800" b="1"/>
              <a:t>3. Hallucination in Reasoning (Safety)</a:t>
            </a:r>
            <a:endParaRPr lang="en-GB" sz="1800"/>
          </a:p>
          <a:p>
            <a:pPr lvl="1"/>
            <a:r>
              <a:rPr lang="en-GB" sz="1400" b="1"/>
              <a:t>GPT-OSS</a:t>
            </a:r>
            <a:r>
              <a:rPr lang="en-GB" sz="1400"/>
              <a:t> sometimes produced confident reasoning for incorrect predictions. A model that sounds certain while being wrong is more dangerous than one that is visibly uncertain. Human review of reasoning is essential before making financial decisions.</a:t>
            </a:r>
          </a:p>
          <a:p>
            <a:r>
              <a:rPr lang="en-GB" sz="1800" b="1"/>
              <a:t>4. Overfitting (Technical Limitation)</a:t>
            </a:r>
            <a:endParaRPr lang="en-GB" sz="1800"/>
          </a:p>
          <a:p>
            <a:pPr lvl="1"/>
            <a:r>
              <a:rPr lang="en-GB" sz="1400"/>
              <a:t>Both </a:t>
            </a:r>
            <a:r>
              <a:rPr lang="en-GB" sz="1400" b="1"/>
              <a:t>BERT and FinBERT</a:t>
            </a:r>
            <a:r>
              <a:rPr lang="en-GB" sz="1400"/>
              <a:t> showed mild validation loss increases at epoch 3. This indicates a risk of memorizing patterns rather than generalizing. The current dataset (4,840 samples) is relatively small for transformer fine-tuning. Larger datasets and </a:t>
            </a:r>
            <a:r>
              <a:rPr lang="en-GB" sz="1400" b="1"/>
              <a:t>Early Stopping</a:t>
            </a:r>
            <a:r>
              <a:rPr lang="en-GB" sz="1400"/>
              <a:t> are recommended.</a:t>
            </a:r>
          </a:p>
          <a:p>
            <a:pPr marL="0" indent="0">
              <a:lnSpc>
                <a:spcPct val="100000"/>
              </a:lnSpc>
              <a:buNone/>
            </a:pPr>
            <a:endParaRPr lang="en-IE" sz="180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IE" sz="180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13FBB09-6C83-E938-F615-8418A608EA3C}"/>
              </a:ext>
            </a:extLst>
          </p:cNvPr>
          <p:cNvSpPr/>
          <p:nvPr/>
        </p:nvSpPr>
        <p:spPr>
          <a:xfrm>
            <a:off x="627687" y="1658594"/>
            <a:ext cx="10836722" cy="436552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6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85138"/>
          </a:xfrm>
        </p:spPr>
        <p:txBody>
          <a:bodyPr>
            <a:normAutofit/>
          </a:bodyPr>
          <a:lstStyle/>
          <a:p>
            <a:r>
              <a:rPr sz="4400"/>
              <a:t>Conclusion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EBEF76-4A12-724C-3F6D-C7AA8F468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895" y="2408824"/>
            <a:ext cx="7954485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13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5808214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Metropolitan</vt:lpstr>
      <vt:lpstr>PowerPoint Presentation</vt:lpstr>
      <vt:lpstr>Introduction </vt:lpstr>
      <vt:lpstr>Dataset</vt:lpstr>
      <vt:lpstr>Evaluation Metrics &amp; Data integrity</vt:lpstr>
      <vt:lpstr>Data Preparation</vt:lpstr>
      <vt:lpstr>Architecture &amp; training:  Model A - BERT-base &amp; Model B - FinBERT</vt:lpstr>
      <vt:lpstr>BERT Results</vt:lpstr>
      <vt:lpstr>BERT Results (continuation)</vt:lpstr>
      <vt:lpstr>FinBERT Results</vt:lpstr>
      <vt:lpstr>FinBERT Results (Continuation)</vt:lpstr>
      <vt:lpstr>Model C – GPT-OSS 20B. Architecture &amp; Setup</vt:lpstr>
      <vt:lpstr>Prompt Engineering: 15-Prompt Ablation Study</vt:lpstr>
      <vt:lpstr>Model C – Performance &amp; Optimisation</vt:lpstr>
      <vt:lpstr>Model C – Qualitative Analysis – Reasoning Quality</vt:lpstr>
      <vt:lpstr>Comparative Analysis</vt:lpstr>
      <vt:lpstr>Comparative Analysis</vt:lpstr>
      <vt:lpstr>Fine-Tuning vs Reasoning</vt:lpstr>
      <vt:lpstr>Reflection &amp; Ethical Considerations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2026-03-04T11:53:57Z</dcterms:created>
  <dcterms:modified xsi:type="dcterms:W3CDTF">2026-04-15T11:20:24Z</dcterms:modified>
</cp:coreProperties>
</file>